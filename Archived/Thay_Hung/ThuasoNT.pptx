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16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3" r:id="rId9"/>
    <p:sldId id="274" r:id="rId10"/>
    <p:sldId id="270" r:id="rId11"/>
    <p:sldId id="271" r:id="rId12"/>
    <p:sldId id="272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65" autoAdjust="0"/>
    <p:restoredTop sz="95118" autoAdjust="0"/>
  </p:normalViewPr>
  <p:slideViewPr>
    <p:cSldViewPr snapToGrid="0">
      <p:cViewPr varScale="1">
        <p:scale>
          <a:sx n="92" d="100"/>
          <a:sy n="92" d="100"/>
        </p:scale>
        <p:origin x="6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24553-863B-4A85-B181-7B5778FC70AA}" type="datetimeFigureOut">
              <a:rPr lang="en-US" smtClean="0"/>
              <a:t>3/18/2023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8611F-7685-4F1D-BD7E-B16F1EF3E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uler%27s_totient_function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>
                <a:hlinkClick r:id="rId3"/>
              </a:rPr>
              <a:t>https://en.wikipedia.org/wiki/Euler%27s_totient_function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8611F-7685-4F1D-BD7E-B16F1EF3E8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40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24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51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23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4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66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67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70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64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504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9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7821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495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6535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35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41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47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292" y="2738641"/>
            <a:ext cx="9108831" cy="1646302"/>
          </a:xfrm>
        </p:spPr>
        <p:txBody>
          <a:bodyPr/>
          <a:lstStyle/>
          <a:p>
            <a:r>
              <a:rPr lang="en-US" b="1" dirty="0"/>
              <a:t>Working with</a:t>
            </a:r>
            <a:r>
              <a:rPr lang="en-US" dirty="0"/>
              <a:t> </a:t>
            </a:r>
            <a:r>
              <a:rPr lang="en-US" b="1" dirty="0"/>
              <a:t>Prime Factors </a:t>
            </a:r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28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Finding Prime Factors with Optimized Trial Divisions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 </a:t>
            </a:r>
            <a:r>
              <a:rPr lang="en-US" b="1"/>
              <a:t>composite </a:t>
            </a:r>
            <a:r>
              <a:rPr lang="en-US"/>
              <a:t>number </a:t>
            </a:r>
            <a:r>
              <a:rPr lang="en-US" i="1"/>
              <a:t>N</a:t>
            </a:r>
            <a:r>
              <a:rPr lang="en-US"/>
              <a:t>, i.e. the non-primes, can be written uniquely as a multiplication of its prime factors. </a:t>
            </a:r>
          </a:p>
          <a:p>
            <a:r>
              <a:rPr lang="pt-BR" i="1"/>
              <a:t>N </a:t>
            </a:r>
            <a:r>
              <a:rPr lang="pt-BR"/>
              <a:t>= 1200 = 2 </a:t>
            </a:r>
            <a:r>
              <a:rPr lang="pt-BR" i="1"/>
              <a:t>× </a:t>
            </a:r>
            <a:r>
              <a:rPr lang="pt-BR"/>
              <a:t>2 </a:t>
            </a:r>
            <a:r>
              <a:rPr lang="pt-BR" i="1"/>
              <a:t>× </a:t>
            </a:r>
            <a:r>
              <a:rPr lang="pt-BR"/>
              <a:t>2 </a:t>
            </a:r>
            <a:r>
              <a:rPr lang="pt-BR" i="1"/>
              <a:t>× </a:t>
            </a:r>
            <a:r>
              <a:rPr lang="pt-BR"/>
              <a:t>2 </a:t>
            </a:r>
            <a:r>
              <a:rPr lang="pt-BR" i="1"/>
              <a:t>× </a:t>
            </a:r>
            <a:r>
              <a:rPr lang="pt-BR"/>
              <a:t>3 </a:t>
            </a:r>
            <a:r>
              <a:rPr lang="pt-BR" i="1"/>
              <a:t>× </a:t>
            </a:r>
            <a:r>
              <a:rPr lang="pt-BR"/>
              <a:t>5 </a:t>
            </a:r>
            <a:r>
              <a:rPr lang="pt-BR" i="1"/>
              <a:t>× </a:t>
            </a:r>
            <a:r>
              <a:rPr lang="pt-BR"/>
              <a:t>5 =2</a:t>
            </a:r>
            <a:r>
              <a:rPr lang="pt-BR" baseline="30000"/>
              <a:t>4</a:t>
            </a:r>
            <a:r>
              <a:rPr lang="pt-BR"/>
              <a:t> </a:t>
            </a:r>
            <a:r>
              <a:rPr lang="pt-BR" i="1"/>
              <a:t>× </a:t>
            </a:r>
            <a:r>
              <a:rPr lang="pt-BR"/>
              <a:t>3 </a:t>
            </a:r>
            <a:r>
              <a:rPr lang="pt-BR" i="1"/>
              <a:t>× </a:t>
            </a:r>
            <a:r>
              <a:rPr lang="pt-BR"/>
              <a:t>5</a:t>
            </a:r>
            <a:r>
              <a:rPr lang="pt-BR" baseline="30000"/>
              <a:t>2</a:t>
            </a:r>
            <a:r>
              <a:rPr lang="pt-BR"/>
              <a:t> </a:t>
            </a:r>
          </a:p>
          <a:p>
            <a:r>
              <a:rPr lang="en-US"/>
              <a:t>Divide and Conquer spirit: </a:t>
            </a:r>
            <a:r>
              <a:rPr lang="en-US" i="1"/>
              <a:t>N </a:t>
            </a:r>
            <a:r>
              <a:rPr lang="en-US"/>
              <a:t>= </a:t>
            </a:r>
            <a:r>
              <a:rPr lang="en-US" i="1"/>
              <a:t>P F × N’. </a:t>
            </a:r>
            <a:r>
              <a:rPr lang="en-US"/>
              <a:t>We can keep doing this until eventually </a:t>
            </a:r>
            <a:r>
              <a:rPr lang="en-US" i="1"/>
              <a:t>N’ </a:t>
            </a:r>
            <a:r>
              <a:rPr lang="en-US"/>
              <a:t>= 1.</a:t>
            </a:r>
          </a:p>
          <a:p>
            <a:r>
              <a:rPr lang="en-US"/>
              <a:t>There is no divisor greater than </a:t>
            </a:r>
            <a:r>
              <a:rPr lang="en-US" i="1"/>
              <a:t>√N</a:t>
            </a:r>
            <a:r>
              <a:rPr lang="en-US"/>
              <a:t>, so we only repeat the process</a:t>
            </a:r>
            <a:br>
              <a:rPr lang="en-US"/>
            </a:br>
            <a:r>
              <a:rPr lang="en-US"/>
              <a:t>of finding prime factors until </a:t>
            </a:r>
            <a:r>
              <a:rPr lang="en-US" i="1"/>
              <a:t>P F ≤ √N</a:t>
            </a:r>
            <a:endParaRPr lang="en-US"/>
          </a:p>
          <a:p>
            <a:r>
              <a:rPr lang="en-US"/>
              <a:t>the worst case—when </a:t>
            </a:r>
            <a:r>
              <a:rPr lang="en-US" i="1"/>
              <a:t>N </a:t>
            </a:r>
            <a:r>
              <a:rPr lang="en-US"/>
              <a:t>is prime, </a:t>
            </a:r>
            <a:r>
              <a:rPr lang="pt-BR" i="1"/>
              <a:t>O</a:t>
            </a:r>
            <a:r>
              <a:rPr lang="pt-BR"/>
              <a:t>(</a:t>
            </a:r>
            <a:r>
              <a:rPr lang="pt-BR" i="1"/>
              <a:t>π</a:t>
            </a:r>
            <a:r>
              <a:rPr lang="pt-BR"/>
              <a:t>(</a:t>
            </a:r>
            <a:r>
              <a:rPr lang="pt-BR" i="1"/>
              <a:t>√N</a:t>
            </a:r>
            <a:r>
              <a:rPr lang="pt-BR"/>
              <a:t>)) =</a:t>
            </a:r>
            <a:r>
              <a:rPr lang="pt-BR" i="1"/>
              <a:t>O</a:t>
            </a:r>
            <a:r>
              <a:rPr lang="pt-BR"/>
              <a:t>(</a:t>
            </a:r>
            <a:r>
              <a:rPr lang="pt-BR" i="1"/>
              <a:t>√N/ln√N</a:t>
            </a:r>
            <a:r>
              <a:rPr lang="pt-BR"/>
              <a:t>) becasue of </a:t>
            </a:r>
            <a:r>
              <a:rPr lang="en-US"/>
              <a:t>testing all smaller primes up to </a:t>
            </a:r>
            <a:r>
              <a:rPr lang="en-US" i="1"/>
              <a:t>√N</a:t>
            </a:r>
            <a:br>
              <a:rPr lang="pt-BR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85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26" y="505557"/>
            <a:ext cx="9023936" cy="571939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6DF9C5-ABA8-44AE-B0D6-2F592986DE7A}"/>
              </a:ext>
            </a:extLst>
          </p:cNvPr>
          <p:cNvSpPr/>
          <p:nvPr/>
        </p:nvSpPr>
        <p:spPr>
          <a:xfrm>
            <a:off x="167346" y="376311"/>
            <a:ext cx="9314279" cy="3063240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030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numPF(N): Count the number of </a:t>
            </a:r>
            <a:r>
              <a:rPr lang="en-US" sz="2800" i="1"/>
              <a:t>prime factors </a:t>
            </a:r>
            <a:r>
              <a:rPr lang="en-US" sz="2800"/>
              <a:t>of 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0589"/>
            <a:ext cx="12187203" cy="410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0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Working with</a:t>
            </a:r>
            <a:r>
              <a:rPr lang="en-US" sz="2800"/>
              <a:t> </a:t>
            </a:r>
            <a:r>
              <a:rPr lang="en-US" sz="2800" b="1"/>
              <a:t>Prime Factors 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68220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n-US" sz="2400"/>
              <a:t>2. numDiffPF(N): Count the number of </a:t>
            </a:r>
            <a:r>
              <a:rPr lang="en-US" sz="2400" i="1"/>
              <a:t>different </a:t>
            </a:r>
            <a:r>
              <a:rPr lang="en-US" sz="2400"/>
              <a:t>prime factors of N</a:t>
            </a:r>
          </a:p>
          <a:p>
            <a:r>
              <a:rPr lang="en-US" sz="2400"/>
              <a:t>3. sumPF(N): </a:t>
            </a:r>
            <a:r>
              <a:rPr lang="en-US" sz="2400" i="1"/>
              <a:t>Sum </a:t>
            </a:r>
            <a:r>
              <a:rPr lang="en-US" sz="2400"/>
              <a:t>the prime factors of N</a:t>
            </a:r>
          </a:p>
          <a:p>
            <a:r>
              <a:rPr lang="en-US" sz="2400"/>
              <a:t>4. numDiv(N): Count the number of </a:t>
            </a:r>
            <a:r>
              <a:rPr lang="en-US" sz="2400" i="1"/>
              <a:t>divisors </a:t>
            </a:r>
            <a:r>
              <a:rPr lang="en-US" sz="2400"/>
              <a:t>of N </a:t>
            </a:r>
          </a:p>
          <a:p>
            <a:pPr marL="800100" lvl="2" indent="0">
              <a:buNone/>
            </a:pPr>
            <a:r>
              <a:rPr lang="en-US" sz="2400" i="1"/>
              <a:t>N </a:t>
            </a:r>
            <a:r>
              <a:rPr lang="en-US" sz="2400"/>
              <a:t>= </a:t>
            </a:r>
            <a:r>
              <a:rPr lang="en-US" sz="2400" i="1"/>
              <a:t>a</a:t>
            </a:r>
            <a:r>
              <a:rPr lang="en-US" sz="2400" i="1" baseline="30000"/>
              <a:t>i</a:t>
            </a:r>
            <a:r>
              <a:rPr lang="en-US" sz="2400" i="1"/>
              <a:t> × b</a:t>
            </a:r>
            <a:r>
              <a:rPr lang="en-US" sz="2400" i="1" baseline="30000"/>
              <a:t>j</a:t>
            </a:r>
            <a:r>
              <a:rPr lang="en-US" sz="2400" i="1"/>
              <a:t> × . . . × c</a:t>
            </a:r>
            <a:r>
              <a:rPr lang="en-US" sz="2400" i="1" baseline="30000"/>
              <a:t>k</a:t>
            </a:r>
            <a:r>
              <a:rPr lang="en-US" sz="2400"/>
              <a:t>, </a:t>
            </a:r>
            <a:br>
              <a:rPr lang="en-US" sz="2400"/>
            </a:br>
            <a:r>
              <a:rPr lang="en-US" sz="2400"/>
              <a:t>then </a:t>
            </a:r>
            <a:r>
              <a:rPr lang="en-US" sz="2400" i="1"/>
              <a:t>N </a:t>
            </a:r>
            <a:r>
              <a:rPr lang="en-US" sz="2400"/>
              <a:t>has (</a:t>
            </a:r>
            <a:r>
              <a:rPr lang="en-US" sz="2400" i="1"/>
              <a:t>i </a:t>
            </a:r>
            <a:r>
              <a:rPr lang="en-US" sz="2400"/>
              <a:t>+ 1) </a:t>
            </a:r>
            <a:r>
              <a:rPr lang="en-US" sz="2400" i="1"/>
              <a:t>× </a:t>
            </a:r>
            <a:r>
              <a:rPr lang="en-US" sz="2400"/>
              <a:t>(</a:t>
            </a:r>
            <a:r>
              <a:rPr lang="en-US" sz="2400" i="1"/>
              <a:t>j </a:t>
            </a:r>
            <a:r>
              <a:rPr lang="en-US" sz="2400"/>
              <a:t>+ 1) </a:t>
            </a:r>
            <a:r>
              <a:rPr lang="en-US" sz="2400" i="1"/>
              <a:t>× . . . × </a:t>
            </a:r>
            <a:r>
              <a:rPr lang="en-US" sz="2400"/>
              <a:t>(</a:t>
            </a:r>
            <a:r>
              <a:rPr lang="en-US" sz="2400" i="1"/>
              <a:t>k </a:t>
            </a:r>
            <a:r>
              <a:rPr lang="en-US" sz="2400"/>
              <a:t>+ 1) divisors. </a:t>
            </a:r>
          </a:p>
          <a:p>
            <a:pPr marL="800100" lvl="2" indent="0">
              <a:buNone/>
            </a:pPr>
            <a:r>
              <a:rPr lang="en-US" sz="2400" i="1"/>
              <a:t>Example: N = 60 = 2</a:t>
            </a:r>
            <a:r>
              <a:rPr lang="en-US" sz="2400" i="1" baseline="30000"/>
              <a:t>2</a:t>
            </a:r>
            <a:r>
              <a:rPr lang="en-US" sz="2400" i="1"/>
              <a:t> × 3</a:t>
            </a:r>
            <a:r>
              <a:rPr lang="en-US" sz="2400" i="1" baseline="30000"/>
              <a:t>1</a:t>
            </a:r>
            <a:r>
              <a:rPr lang="en-US" sz="2400" i="1"/>
              <a:t> × 5</a:t>
            </a:r>
            <a:r>
              <a:rPr lang="en-US" sz="2400" i="1" baseline="30000"/>
              <a:t>1</a:t>
            </a:r>
            <a:r>
              <a:rPr lang="en-US" sz="2400" i="1"/>
              <a:t> has </a:t>
            </a:r>
            <a:br>
              <a:rPr lang="en-US" sz="2400" i="1"/>
            </a:br>
            <a:r>
              <a:rPr lang="en-US" sz="2400" i="1"/>
              <a:t>(2 + 1) × (1 + 1) × (1 + 1) = 3 × 2 × 2 = 12 divisors. </a:t>
            </a:r>
            <a:br>
              <a:rPr lang="en-US" sz="2400" i="1"/>
            </a:br>
            <a:br>
              <a:rPr lang="en-US" sz="2400" i="1"/>
            </a:b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3382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numDiv(N): Count the number of </a:t>
            </a:r>
            <a:r>
              <a:rPr lang="en-US" i="1"/>
              <a:t>divisors </a:t>
            </a:r>
            <a:r>
              <a:rPr lang="en-US"/>
              <a:t>of N 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69" y="1748398"/>
            <a:ext cx="9342878" cy="371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05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sumDiv(N): </a:t>
            </a:r>
            <a:r>
              <a:rPr lang="en-US" i="1"/>
              <a:t>Sum </a:t>
            </a:r>
            <a:r>
              <a:rPr lang="en-US"/>
              <a:t>the divisors of 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0297"/>
            <a:ext cx="8596668" cy="3880773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23" y="1270000"/>
            <a:ext cx="10723341" cy="558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FFAB16C-197D-44BD-8E07-503B6A69DC96}"/>
              </a:ext>
            </a:extLst>
          </p:cNvPr>
          <p:cNvSpPr/>
          <p:nvPr/>
        </p:nvSpPr>
        <p:spPr>
          <a:xfrm>
            <a:off x="7195510" y="1997975"/>
            <a:ext cx="3557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>
              <a:spcAft>
                <a:spcPts val="0"/>
              </a:spcAft>
            </a:pPr>
            <a:r>
              <a:rPr lang="en-AU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(1,2,3,4,5,6,10,12,15,20,30,</a:t>
            </a:r>
            <a:r>
              <a:rPr lang="en-AU">
                <a:latin typeface="Times New Roman" panose="02020603050405020304" pitchFamily="18" charset="0"/>
                <a:ea typeface="Times New Roman" panose="02020603050405020304" pitchFamily="18" charset="0"/>
              </a:rPr>
              <a:t>60)</a:t>
            </a:r>
          </a:p>
        </p:txBody>
      </p:sp>
    </p:spTree>
    <p:extLst>
      <p:ext uri="{BB962C8B-B14F-4D97-AF65-F5344CB8AC3E}">
        <p14:creationId xmlns:p14="http://schemas.microsoft.com/office/powerpoint/2010/main" val="36263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2626-4CB3-419D-9F94-B3DC1205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sumDiv(N): </a:t>
            </a:r>
            <a:r>
              <a:rPr lang="en-US" i="1"/>
              <a:t>Sum </a:t>
            </a:r>
            <a:r>
              <a:rPr lang="en-US"/>
              <a:t>the divisors of N 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9B588-F8BC-42FF-ADA1-190B4A616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Let </a:t>
            </a:r>
            <a:r>
              <a:rPr lang="el-GR"/>
              <a:t>σ(</a:t>
            </a:r>
            <a:r>
              <a:rPr lang="en-AU" i="1"/>
              <a:t>n</a:t>
            </a:r>
            <a:r>
              <a:rPr lang="en-AU"/>
              <a:t>) be the sum of divisors of the natural number, </a:t>
            </a:r>
            <a:r>
              <a:rPr lang="en-AU" i="1"/>
              <a:t>n</a:t>
            </a:r>
            <a:r>
              <a:rPr lang="en-AU"/>
              <a:t>.</a:t>
            </a:r>
          </a:p>
          <a:p>
            <a:r>
              <a:rPr lang="en-AU"/>
              <a:t>For any prime, </a:t>
            </a:r>
            <a:r>
              <a:rPr lang="en-AU" i="1"/>
              <a:t>p</a:t>
            </a:r>
            <a:r>
              <a:rPr lang="en-AU"/>
              <a:t>: </a:t>
            </a:r>
            <a:r>
              <a:rPr lang="el-GR"/>
              <a:t>σ(</a:t>
            </a:r>
            <a:r>
              <a:rPr lang="en-AU" i="1"/>
              <a:t>p</a:t>
            </a:r>
            <a:r>
              <a:rPr lang="en-AU"/>
              <a:t>) = </a:t>
            </a:r>
            <a:r>
              <a:rPr lang="en-AU" i="1"/>
              <a:t>p</a:t>
            </a:r>
            <a:r>
              <a:rPr lang="en-AU"/>
              <a:t> + 1, as the only divisors would be 1 and </a:t>
            </a:r>
            <a:r>
              <a:rPr lang="en-AU" i="1"/>
              <a:t>p</a:t>
            </a:r>
            <a:r>
              <a:rPr lang="en-AU"/>
              <a:t>.</a:t>
            </a:r>
          </a:p>
          <a:p>
            <a:r>
              <a:rPr lang="en-AU"/>
              <a:t>Consider 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/>
              <a:t>: </a:t>
            </a:r>
            <a:r>
              <a:rPr lang="el-GR"/>
              <a:t>σ(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/>
              <a:t>) = 1 + </a:t>
            </a:r>
            <a:r>
              <a:rPr lang="en-AU" i="1"/>
              <a:t>p</a:t>
            </a:r>
            <a:r>
              <a:rPr lang="en-AU"/>
              <a:t> + </a:t>
            </a:r>
            <a:r>
              <a:rPr lang="en-AU" i="1"/>
              <a:t>p</a:t>
            </a:r>
            <a:r>
              <a:rPr lang="en-AU" baseline="30000"/>
              <a:t>2</a:t>
            </a:r>
            <a:r>
              <a:rPr lang="en-AU"/>
              <a:t> + ... + 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/>
              <a:t> (1).</a:t>
            </a:r>
          </a:p>
          <a:p>
            <a:r>
              <a:rPr lang="en-AU"/>
              <a:t>Multiplying by </a:t>
            </a:r>
            <a:r>
              <a:rPr lang="en-AU" i="1"/>
              <a:t>p</a:t>
            </a:r>
            <a:r>
              <a:rPr lang="en-AU"/>
              <a:t>: </a:t>
            </a:r>
            <a:r>
              <a:rPr lang="en-AU" i="1"/>
              <a:t>p</a:t>
            </a:r>
            <a:r>
              <a:rPr lang="el-GR"/>
              <a:t>σ(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/>
              <a:t>) = </a:t>
            </a:r>
            <a:r>
              <a:rPr lang="en-AU" i="1"/>
              <a:t>p</a:t>
            </a:r>
            <a:r>
              <a:rPr lang="en-AU"/>
              <a:t> + </a:t>
            </a:r>
            <a:r>
              <a:rPr lang="en-AU" i="1"/>
              <a:t>p</a:t>
            </a:r>
            <a:r>
              <a:rPr lang="en-AU" baseline="30000"/>
              <a:t>2</a:t>
            </a:r>
            <a:r>
              <a:rPr lang="en-AU"/>
              <a:t> + </a:t>
            </a:r>
            <a:r>
              <a:rPr lang="en-AU" i="1"/>
              <a:t>p</a:t>
            </a:r>
            <a:r>
              <a:rPr lang="en-AU" baseline="30000"/>
              <a:t>3</a:t>
            </a:r>
            <a:r>
              <a:rPr lang="en-AU"/>
              <a:t> + ... + 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 baseline="30000"/>
              <a:t> + 1</a:t>
            </a:r>
            <a:r>
              <a:rPr lang="en-AU"/>
              <a:t> (2).</a:t>
            </a:r>
          </a:p>
          <a:p>
            <a:r>
              <a:rPr lang="en-AU"/>
              <a:t>Subtracting (1) from (2): </a:t>
            </a:r>
            <a:r>
              <a:rPr lang="en-AU" i="1"/>
              <a:t>p</a:t>
            </a:r>
            <a:r>
              <a:rPr lang="el-GR"/>
              <a:t>σ(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/>
              <a:t>)−</a:t>
            </a:r>
            <a:r>
              <a:rPr lang="el-GR"/>
              <a:t>σ(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/>
              <a:t>) = (</a:t>
            </a:r>
            <a:r>
              <a:rPr lang="en-AU" i="1"/>
              <a:t>p</a:t>
            </a:r>
            <a:r>
              <a:rPr lang="en-AU"/>
              <a:t>−1)</a:t>
            </a:r>
            <a:r>
              <a:rPr lang="el-GR"/>
              <a:t>σ(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/>
              <a:t>) = 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 baseline="30000"/>
              <a:t>+1</a:t>
            </a:r>
            <a:r>
              <a:rPr lang="en-AU"/>
              <a:t> − 1.</a:t>
            </a:r>
          </a:p>
          <a:p>
            <a:r>
              <a:rPr lang="en-AU"/>
              <a:t>Hence </a:t>
            </a:r>
            <a:r>
              <a:rPr lang="el-GR"/>
              <a:t>σ(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/>
              <a:t>) = (</a:t>
            </a:r>
            <a:r>
              <a:rPr lang="en-AU" i="1"/>
              <a:t>p</a:t>
            </a:r>
            <a:r>
              <a:rPr lang="en-AU" i="1" baseline="30000"/>
              <a:t>a</a:t>
            </a:r>
            <a:r>
              <a:rPr lang="en-AU" baseline="30000"/>
              <a:t>+1</a:t>
            </a:r>
            <a:r>
              <a:rPr lang="en-AU"/>
              <a:t> − 1)/(</a:t>
            </a:r>
            <a:r>
              <a:rPr lang="en-AU" i="1"/>
              <a:t>p</a:t>
            </a:r>
            <a:r>
              <a:rPr lang="en-AU"/>
              <a:t> − 1).</a:t>
            </a:r>
          </a:p>
          <a:p>
            <a:r>
              <a:rPr lang="en-AU"/>
              <a:t>For example, </a:t>
            </a:r>
            <a:r>
              <a:rPr lang="el-GR"/>
              <a:t>σ(3</a:t>
            </a:r>
            <a:r>
              <a:rPr lang="el-GR" baseline="30000"/>
              <a:t>4</a:t>
            </a:r>
            <a:r>
              <a:rPr lang="el-GR"/>
              <a:t>)=(3</a:t>
            </a:r>
            <a:r>
              <a:rPr lang="el-GR" baseline="30000"/>
              <a:t>5</a:t>
            </a:r>
            <a:r>
              <a:rPr lang="el-GR"/>
              <a:t>−1)/(3−1) = 242/2 = 121,</a:t>
            </a:r>
            <a:br>
              <a:rPr lang="el-GR"/>
            </a:br>
            <a:r>
              <a:rPr lang="en-AU"/>
              <a:t>and checking: 1 + 3 + 9 + 27 + 81 = 121.</a:t>
            </a:r>
          </a:p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472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2626-4CB3-419D-9F94-B3DC1205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sumDiv(N): </a:t>
            </a:r>
            <a:r>
              <a:rPr lang="en-US" i="1"/>
              <a:t>Sum </a:t>
            </a:r>
            <a:r>
              <a:rPr lang="en-US"/>
              <a:t>the divisors of N 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9B588-F8BC-42FF-ADA1-190B4A616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σ(</a:t>
            </a:r>
            <a:r>
              <a:rPr lang="en-US" sz="2000" i="1"/>
              <a:t>a</a:t>
            </a:r>
            <a:r>
              <a:rPr lang="en-US" sz="2000"/>
              <a:t>×</a:t>
            </a:r>
            <a:r>
              <a:rPr lang="en-US" sz="2000" i="1"/>
              <a:t>b</a:t>
            </a:r>
            <a:r>
              <a:rPr lang="en-US" sz="2000"/>
              <a:t>×...)=σ(</a:t>
            </a:r>
            <a:r>
              <a:rPr lang="en-US" sz="2000" i="1"/>
              <a:t>a</a:t>
            </a:r>
            <a:r>
              <a:rPr lang="en-US" sz="2000"/>
              <a:t>)×σ(</a:t>
            </a:r>
            <a:r>
              <a:rPr lang="en-US" sz="2000" i="1"/>
              <a:t>b</a:t>
            </a:r>
            <a:r>
              <a:rPr lang="en-US" sz="2000"/>
              <a:t>)×..., where </a:t>
            </a:r>
            <a:r>
              <a:rPr lang="en-US" sz="2000" i="1"/>
              <a:t>a</a:t>
            </a:r>
            <a:r>
              <a:rPr lang="en-US" sz="2000"/>
              <a:t>, </a:t>
            </a:r>
            <a:r>
              <a:rPr lang="en-US" sz="2000" i="1"/>
              <a:t>b</a:t>
            </a:r>
            <a:r>
              <a:rPr lang="en-US" sz="2000"/>
              <a:t>, ..., are relatively prime.</a:t>
            </a:r>
          </a:p>
          <a:p>
            <a:r>
              <a:rPr lang="en-US" sz="2000"/>
              <a:t>Returning to example, we use the fact that σ(72) = σ(2</a:t>
            </a:r>
            <a:r>
              <a:rPr lang="en-US" sz="2000" baseline="30000"/>
              <a:t>3</a:t>
            </a:r>
            <a:r>
              <a:rPr lang="en-US" sz="2000"/>
              <a:t>×3</a:t>
            </a:r>
            <a:r>
              <a:rPr lang="en-US" sz="2000" baseline="30000"/>
              <a:t>2</a:t>
            </a:r>
            <a:r>
              <a:rPr lang="en-US" sz="2000"/>
              <a:t>). </a:t>
            </a:r>
          </a:p>
          <a:p>
            <a:r>
              <a:rPr lang="en-US" sz="2000"/>
              <a:t>As 2</a:t>
            </a:r>
            <a:r>
              <a:rPr lang="en-US" sz="2000" baseline="30000"/>
              <a:t>3</a:t>
            </a:r>
            <a:r>
              <a:rPr lang="en-US" sz="2000"/>
              <a:t> and 3</a:t>
            </a:r>
            <a:r>
              <a:rPr lang="en-US" sz="2000" baseline="30000"/>
              <a:t>2</a:t>
            </a:r>
            <a:r>
              <a:rPr lang="en-US" sz="2000"/>
              <a:t> are relatively prime, we can separately work out:</a:t>
            </a:r>
            <a:br>
              <a:rPr lang="en-US" sz="2000"/>
            </a:br>
            <a:r>
              <a:rPr lang="en-US" sz="2000"/>
              <a:t>σ(2</a:t>
            </a:r>
            <a:r>
              <a:rPr lang="en-US" sz="2000" baseline="30000"/>
              <a:t>3</a:t>
            </a:r>
            <a:r>
              <a:rPr lang="en-US" sz="2000"/>
              <a:t>) = 2</a:t>
            </a:r>
            <a:r>
              <a:rPr lang="en-US" sz="2000" baseline="30000"/>
              <a:t>4</a:t>
            </a:r>
            <a:r>
              <a:rPr lang="en-US" sz="2000"/>
              <a:t> − 1 = 15 and σ(3</a:t>
            </a:r>
            <a:r>
              <a:rPr lang="en-US" sz="2000" baseline="30000"/>
              <a:t>2</a:t>
            </a:r>
            <a:r>
              <a:rPr lang="en-US" sz="2000"/>
              <a:t>) = (3</a:t>
            </a:r>
            <a:r>
              <a:rPr lang="en-US" sz="2000" baseline="30000"/>
              <a:t>3</a:t>
            </a:r>
            <a:r>
              <a:rPr lang="en-US" sz="2000"/>
              <a:t> − 1)/2 = 13. </a:t>
            </a:r>
          </a:p>
          <a:p>
            <a:r>
              <a:rPr lang="en-US" sz="2000"/>
              <a:t>Therefore, σ(72) = 15×13 = 195.</a:t>
            </a:r>
          </a:p>
        </p:txBody>
      </p:sp>
    </p:spTree>
    <p:extLst>
      <p:ext uri="{BB962C8B-B14F-4D97-AF65-F5344CB8AC3E}">
        <p14:creationId xmlns:p14="http://schemas.microsoft.com/office/powerpoint/2010/main" val="2456333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EulerPhi(N): Count the number of positive integers </a:t>
            </a:r>
            <a:r>
              <a:rPr lang="en-US" i="1"/>
              <a:t>&lt; N </a:t>
            </a:r>
            <a:r>
              <a:rPr lang="en-US"/>
              <a:t>that are relatively prime to </a:t>
            </a:r>
            <a:r>
              <a:rPr lang="en-US" i="1"/>
              <a:t>N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Two integers </a:t>
            </a:r>
            <a:r>
              <a:rPr lang="en-US" sz="2000" i="1"/>
              <a:t>a </a:t>
            </a:r>
            <a:r>
              <a:rPr lang="en-US" sz="2000"/>
              <a:t>and </a:t>
            </a:r>
            <a:r>
              <a:rPr lang="en-US" sz="2000" i="1"/>
              <a:t>b </a:t>
            </a:r>
            <a:r>
              <a:rPr lang="en-US" sz="2000"/>
              <a:t>are said to be relatively prime (or coprime) if</a:t>
            </a:r>
            <a:br>
              <a:rPr lang="en-US" sz="2000"/>
            </a:br>
            <a:r>
              <a:rPr lang="en-US" sz="2000" i="1"/>
              <a:t>gcd</a:t>
            </a:r>
            <a:r>
              <a:rPr lang="en-US" sz="2000"/>
              <a:t>(</a:t>
            </a:r>
            <a:r>
              <a:rPr lang="en-US" sz="2000" i="1"/>
              <a:t>a, b</a:t>
            </a:r>
            <a:r>
              <a:rPr lang="en-US" sz="2000"/>
              <a:t>) = 1</a:t>
            </a:r>
          </a:p>
          <a:p>
            <a:r>
              <a:rPr lang="en-US" sz="2000"/>
              <a:t>e.g. 25 and 42 are relatively prime</a:t>
            </a:r>
          </a:p>
          <a:p>
            <a:r>
              <a:rPr lang="en-US" sz="2000"/>
              <a:t>  </a:t>
            </a:r>
          </a:p>
          <a:p>
            <a:r>
              <a:rPr lang="en-US" sz="2000"/>
              <a:t>For example </a:t>
            </a:r>
            <a:r>
              <a:rPr lang="en-US" sz="2000" i="1"/>
              <a:t>N </a:t>
            </a:r>
            <a:r>
              <a:rPr lang="en-US" sz="2000"/>
              <a:t>= 36 = 2</a:t>
            </a:r>
            <a:r>
              <a:rPr lang="en-US" sz="2000" baseline="30000"/>
              <a:t>2</a:t>
            </a:r>
            <a:r>
              <a:rPr lang="en-US" sz="2000"/>
              <a:t> </a:t>
            </a:r>
            <a:r>
              <a:rPr lang="en-US" sz="2000" i="1"/>
              <a:t>× </a:t>
            </a:r>
            <a:r>
              <a:rPr lang="en-US" sz="2000"/>
              <a:t>3</a:t>
            </a:r>
            <a:r>
              <a:rPr lang="en-US" sz="2000" baseline="30000"/>
              <a:t>2</a:t>
            </a:r>
            <a:r>
              <a:rPr lang="en-US" sz="2000"/>
              <a:t> </a:t>
            </a:r>
          </a:p>
          <a:p>
            <a:pPr lvl="1"/>
            <a:r>
              <a:rPr lang="en-US"/>
              <a:t> </a:t>
            </a:r>
          </a:p>
          <a:p>
            <a:pPr lvl="1"/>
            <a:r>
              <a:rPr lang="en-US"/>
              <a:t>Those 12 positive integers that are relatively prime to 36 are </a:t>
            </a:r>
            <a:r>
              <a:rPr lang="en-US" i="1"/>
              <a:t>{</a:t>
            </a:r>
            <a:r>
              <a:rPr lang="en-US"/>
              <a:t>1, 5, 7, 11, 13, 17, 19, 23, 25, 29, 31, 35</a:t>
            </a:r>
            <a:r>
              <a:rPr lang="en-US" i="1"/>
              <a:t>}</a:t>
            </a:r>
            <a:r>
              <a:rPr lang="en-US"/>
              <a:t>. 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58" y="3273300"/>
            <a:ext cx="6992832" cy="4370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007" y="4162769"/>
            <a:ext cx="4027978" cy="37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369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EulerPhi(N): Count the number of positive integers </a:t>
            </a:r>
            <a:r>
              <a:rPr lang="en-US" i="1"/>
              <a:t>&lt; N </a:t>
            </a:r>
            <a:r>
              <a:rPr lang="en-US"/>
              <a:t>that are relatively prime to </a:t>
            </a:r>
            <a:r>
              <a:rPr lang="en-US" i="1"/>
              <a:t>N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072054"/>
            <a:ext cx="9192699" cy="330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76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-1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4" y="854529"/>
            <a:ext cx="5454545" cy="5148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/>
              <a:t>Exercise </a:t>
            </a:r>
            <a:br>
              <a:rPr lang="en-US" sz="8000"/>
            </a:br>
            <a:endParaRPr lang="en-US" sz="8000"/>
          </a:p>
        </p:txBody>
      </p:sp>
    </p:spTree>
    <p:extLst>
      <p:ext uri="{BB962C8B-B14F-4D97-AF65-F5344CB8AC3E}">
        <p14:creationId xmlns:p14="http://schemas.microsoft.com/office/powerpoint/2010/main" val="2840015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4D026A2-7476-44B0-9648-BB98882F7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8F8FC21-0A44-4045-95A1-B7935DBC6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209B962-CD29-4D46-A7B0-10F6C7CF1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CC8D40CF-4D47-411D-A8B7-0E4B29E98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9B48A2AD-5257-4384-A7F5-A1EE4E68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4C26DE3-844C-47DA-831E-E7D7BF617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922D975E-0684-4AA6-9FB7-929B250D5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8ED5A9A-F0C7-4547-BC1E-22FC89BD2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2D743765-A245-4349-A5CE-4AB5F078F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AF7217B-D042-44D2-9FC7-71FAB6651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1CC9171B-8BEB-48B1-B9BE-E9584522D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39E0F9-A88F-462C-A5E5-F5B37044E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174" y="1131993"/>
            <a:ext cx="8122038" cy="51371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7BA457-FC4B-4E0A-ADA5-E545BBA8C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50" y="764990"/>
            <a:ext cx="18573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8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9F670-42F5-4671-9C6C-EF48F4C92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79" y="1070228"/>
            <a:ext cx="8547120" cy="5277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E977E3-780B-4A80-A743-F97CF732E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96" y="636228"/>
            <a:ext cx="287655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222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1529</TotalTime>
  <Words>736</Words>
  <Application>Microsoft Office PowerPoint</Application>
  <PresentationFormat>Widescreen</PresentationFormat>
  <Paragraphs>41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 New Roman</vt:lpstr>
      <vt:lpstr>Trebuchet MS</vt:lpstr>
      <vt:lpstr>Wingdings 3</vt:lpstr>
      <vt:lpstr>Facet</vt:lpstr>
      <vt:lpstr>Working with Prime Factors  </vt:lpstr>
      <vt:lpstr>Finding Prime Factors with Optimized Trial Divisions </vt:lpstr>
      <vt:lpstr>PowerPoint Presentation</vt:lpstr>
      <vt:lpstr>numPF(N): Count the number of prime factors of N </vt:lpstr>
      <vt:lpstr>Working with Prime Factors </vt:lpstr>
      <vt:lpstr>numDiv(N): Count the number of divisors of N  </vt:lpstr>
      <vt:lpstr>sumDiv(N): Sum the divisors of N </vt:lpstr>
      <vt:lpstr>sumDiv(N): Sum the divisors of N </vt:lpstr>
      <vt:lpstr>sumDiv(N): Sum the divisors of N </vt:lpstr>
      <vt:lpstr>EulerPhi(N): Count the number of positive integers &lt; N that are relatively prime to N  </vt:lpstr>
      <vt:lpstr>EulerPhi(N): Count the number of positive integers &lt; N that are relatively prime to N  </vt:lpstr>
      <vt:lpstr>Exercise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Prime Factors  </dc:title>
  <dc:creator>Hung, Vu Tan</dc:creator>
  <cp:lastModifiedBy>D604GV</cp:lastModifiedBy>
  <cp:revision>10</cp:revision>
  <dcterms:created xsi:type="dcterms:W3CDTF">2020-04-27T14:44:40Z</dcterms:created>
  <dcterms:modified xsi:type="dcterms:W3CDTF">2023-03-18T03:01:50Z</dcterms:modified>
</cp:coreProperties>
</file>